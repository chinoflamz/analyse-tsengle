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00C78-94F2-5C5C-5E83-C2D504D77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806C9A-526B-30DC-775E-6A34D561D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367968-2B8D-6926-0A14-62287ED6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4CCFF1-F501-FF2F-508E-503E584E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A63C33-0805-DAE6-0457-62FA77FA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68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0DEEBF-1E87-3F45-66B1-232949ED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A35C51-BD38-9B65-A060-81038B28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1FA63C-9E4F-4508-4358-518ED2CC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4087A0-3A5B-145D-F59B-743C11EC4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99D3D2-E9ED-C38F-3817-272E2245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55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E0868-01A2-5068-50AA-D5DFB914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7503C7-6F61-FA40-8156-1E9570CD6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B7E1C5-7AF6-E2A5-2DFE-64E78206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DC67E7-060E-23F0-3C44-A6735D33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14830F-555F-7A85-ED7A-D5B741A5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85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EA85F-E3C7-3C52-FB32-B9AD8D68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61CCB9-E5D8-9066-4DB7-FE97AD8AB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FD01CF-3EE2-4E7F-1407-7B1471205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C2CB62-EB4F-9185-1FA6-02F3B97B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720919-AA50-7B86-4159-C98C2321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715BE8-2C6C-6EBA-8D59-AD08274B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71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F9C411-5E1C-1E0D-3F88-B34A72C5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1DB127-765E-788F-8B32-68388A8DB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56EFBA-4F5A-02F7-92DD-32C5B99CE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49E0DB-B85D-7FB4-B8CD-0A8A954AA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E188900-1FF9-DF67-BCB2-E0A2D1D34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E863D0B-CCF6-D3BF-812A-A66DFD25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24EB1A9-829E-22C1-CA35-3113DE36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89308C-9E59-EB2E-AC23-2E47731C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541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BCEA9A-8641-E357-5EBB-94DE6DA3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C3C491-51BF-A9C1-79CA-496CFA8E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F384292-67F4-06B6-38A9-EAE578AE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6BFF0F-60C9-AFD3-8D93-CC101FF4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46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775D063-41CB-2DCE-7D2A-48B8C90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B2E23D-6F4F-314A-1090-F8D5D36A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2E8FBD-2621-CC9C-4B41-13AF3630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83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1C4BEF-C85E-BE22-00E2-431249DD7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92FA6A-3722-22E3-B42B-2034145A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06FBA55-71B5-4CE2-A153-948A1073F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AD7488-2669-B57D-6C4E-B1C9F4E2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DB3275-196B-861D-42C5-6D55AB3B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9ACA22-1528-391E-BE4C-D49C3235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23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13D13-A117-A294-A610-E3FBDEDA7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BC68019-EB47-71B1-22A3-2F184C766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9C2312-70EC-F9AC-BB18-AB2C2C0A8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399AD9-CFE6-11DB-3C74-7D4EC124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7C1C78-D6F7-79DC-3887-1C048E34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062583-0EE5-AB5E-424E-A90BE39B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98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9C3CF-4C13-ACB0-1682-1492CF3E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15C594-BEE1-8F29-F6AF-C893582E5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61BBFE-B799-ACB9-E217-289767B8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772E98-D0CF-9C80-F70B-F5EDD22F1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502E7F-2A91-6D13-8E97-55DF2E48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25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48A5035-2BF8-3B75-0358-4C10393D7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22B74DE-B86E-43CE-7332-E0DDC56C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99450C-83EA-7024-BE5E-B3B8F7AB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29B492-BC1D-ADA3-9433-CF39D300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854BE9-3A59-D5DD-1DB0-B9E5C5D2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21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06CF83D-9DC8-CF35-BB1F-A3FEBEBF0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93001F-C8B1-784C-33F8-F1389CFA5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CEF080-7B1F-9EB1-7C51-571C7F4BF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5C129-D747-401A-AA5E-CBA291C8754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A87173-9346-72D4-6607-4C6CE0560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1A5FFE-605C-660E-DBD4-DF16C69CD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ACC99-AF17-4190-9C27-928210C4DF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47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6.png">
            <a:extLst>
              <a:ext uri="{FF2B5EF4-FFF2-40B4-BE49-F238E27FC236}">
                <a16:creationId xmlns:a16="http://schemas.microsoft.com/office/drawing/2014/main" id="{B6C4CBE6-5074-6B42-18A3-888B854D38D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88D6AF0-5AAA-4449-D0DC-45E38C94B1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Rapport d’analyse de la performance et de l’accessibilité des services publics administratifs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71B1B0-C933-9116-C593-1EA5E7572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5524" y="3823236"/>
            <a:ext cx="8078912" cy="809090"/>
          </a:xfrm>
        </p:spPr>
        <p:txBody>
          <a:bodyPr>
            <a:normAutofit fontScale="92500" lnSpcReduction="10000"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Test analyste </a:t>
            </a:r>
          </a:p>
          <a:p>
            <a:r>
              <a:rPr lang="fr-FR" b="1" dirty="0">
                <a:solidFill>
                  <a:schemeClr val="bg1"/>
                </a:solidFill>
              </a:rPr>
              <a:t>Présenté par Mr Joachim Kokou TSENGLE (Statisticien Economiste)  </a:t>
            </a:r>
          </a:p>
        </p:txBody>
      </p:sp>
    </p:spTree>
    <p:extLst>
      <p:ext uri="{BB962C8B-B14F-4D97-AF65-F5344CB8AC3E}">
        <p14:creationId xmlns:p14="http://schemas.microsoft.com/office/powerpoint/2010/main" val="1933422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BA8DE7-C9AA-50AC-49B6-1DED2EF0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18"/>
            <a:ext cx="10515600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DE PRESENTATION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EB508C-C9BC-F995-C3B2-AD3CB9F3F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481"/>
            <a:ext cx="10689404" cy="5140254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fr-FR" sz="3200" b="1" dirty="0">
                <a:latin typeface="Arial Narrow" panose="020B0606020202030204" pitchFamily="34" charset="0"/>
              </a:rPr>
              <a:t>Contexte et enjeux de l’analyse</a:t>
            </a:r>
            <a:r>
              <a:rPr lang="fr-FR" b="1" dirty="0">
                <a:latin typeface="Arial Narrow" panose="020B0606020202030204" pitchFamily="34" charset="0"/>
              </a:rPr>
              <a:t> : </a:t>
            </a:r>
            <a:r>
              <a:rPr lang="fr-FR" sz="2400" i="1" dirty="0">
                <a:latin typeface="Arial Narrow" panose="020B0606020202030204" pitchFamily="34" charset="0"/>
              </a:rPr>
              <a:t>Problématique d’accessibilité et de performance des services publics</a:t>
            </a:r>
          </a:p>
          <a:p>
            <a:pPr marL="571500" indent="-571500">
              <a:buFont typeface="+mj-lt"/>
              <a:buAutoNum type="romanUcPeriod"/>
            </a:pPr>
            <a:r>
              <a:rPr lang="fr-FR" sz="3200" b="1" dirty="0">
                <a:latin typeface="Arial Narrow" panose="020B0606020202030204" pitchFamily="34" charset="0"/>
              </a:rPr>
              <a:t>Démarche analytique et préparation des données</a:t>
            </a:r>
            <a:r>
              <a:rPr lang="fr-FR" b="1" dirty="0">
                <a:latin typeface="Arial Narrow" panose="020B0606020202030204" pitchFamily="34" charset="0"/>
              </a:rPr>
              <a:t> : </a:t>
            </a:r>
            <a:r>
              <a:rPr lang="fr-FR" sz="2400" i="1" dirty="0">
                <a:latin typeface="Arial Narrow" panose="020B0606020202030204" pitchFamily="34" charset="0"/>
              </a:rPr>
              <a:t>Analyse exploratoire, nettoyage et construction des indicateurs</a:t>
            </a:r>
          </a:p>
          <a:p>
            <a:pPr marL="571500" indent="-571500">
              <a:buFont typeface="+mj-lt"/>
              <a:buAutoNum type="romanUcPeriod"/>
            </a:pPr>
            <a:r>
              <a:rPr lang="fr-FR" sz="3200" b="1" dirty="0">
                <a:latin typeface="Arial Narrow" panose="020B0606020202030204" pitchFamily="34" charset="0"/>
              </a:rPr>
              <a:t>Principaux constats et enseignements clés</a:t>
            </a:r>
            <a:r>
              <a:rPr lang="fr-FR" b="1" dirty="0">
                <a:latin typeface="Arial Narrow" panose="020B0606020202030204" pitchFamily="34" charset="0"/>
              </a:rPr>
              <a:t> : </a:t>
            </a:r>
            <a:r>
              <a:rPr lang="fr-FR" sz="2400" i="1" dirty="0">
                <a:latin typeface="Arial Narrow" panose="020B0606020202030204" pitchFamily="34" charset="0"/>
              </a:rPr>
              <a:t>Déséquilibres territoriaux, pression sur les centres et délais</a:t>
            </a:r>
          </a:p>
          <a:p>
            <a:pPr marL="571500" indent="-571500">
              <a:buFont typeface="+mj-lt"/>
              <a:buAutoNum type="romanUcPeriod"/>
            </a:pPr>
            <a:r>
              <a:rPr lang="fr-FR" sz="3200" b="1" dirty="0">
                <a:latin typeface="Arial Narrow" panose="020B0606020202030204" pitchFamily="34" charset="0"/>
              </a:rPr>
              <a:t>Indicateurs clés et visualisations décisionnelles</a:t>
            </a:r>
            <a:r>
              <a:rPr lang="fr-FR" b="1" dirty="0">
                <a:latin typeface="Arial Narrow" panose="020B0606020202030204" pitchFamily="34" charset="0"/>
              </a:rPr>
              <a:t> : </a:t>
            </a:r>
            <a:r>
              <a:rPr lang="fr-FR" sz="2400" i="1" dirty="0">
                <a:latin typeface="Arial Narrow" panose="020B0606020202030204" pitchFamily="34" charset="0"/>
              </a:rPr>
              <a:t>KPI de performance, d’accessibilité et cartographie des centres</a:t>
            </a:r>
          </a:p>
          <a:p>
            <a:pPr marL="571500" indent="-571500">
              <a:buFont typeface="+mj-lt"/>
              <a:buAutoNum type="romanUcPeriod"/>
            </a:pPr>
            <a:r>
              <a:rPr lang="fr-FR" sz="3200" b="1" dirty="0">
                <a:latin typeface="Arial Narrow" panose="020B0606020202030204" pitchFamily="34" charset="0"/>
              </a:rPr>
              <a:t>Recommandations opérationnelles, limites et perspectives</a:t>
            </a:r>
            <a:r>
              <a:rPr lang="fr-FR" b="1" dirty="0">
                <a:latin typeface="Arial Narrow" panose="020B0606020202030204" pitchFamily="34" charset="0"/>
              </a:rPr>
              <a:t> : </a:t>
            </a:r>
            <a:r>
              <a:rPr lang="fr-FR" sz="2400" i="1" dirty="0">
                <a:latin typeface="Arial Narrow" panose="020B0606020202030204" pitchFamily="34" charset="0"/>
              </a:rPr>
              <a:t>Leviers d’amélioration et pistes d’analyse futures</a:t>
            </a:r>
          </a:p>
          <a:p>
            <a:endParaRPr lang="fr-FR" sz="3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3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1F216E-3E4C-8E5D-10AF-F1F79C22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096" y="0"/>
            <a:ext cx="8398267" cy="1120079"/>
          </a:xfrm>
        </p:spPr>
        <p:txBody>
          <a:bodyPr>
            <a:normAutofit/>
          </a:bodyPr>
          <a:lstStyle/>
          <a:p>
            <a:pPr algn="ctr"/>
            <a:r>
              <a:rPr lang="fr-FR" sz="36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CONTEXTE ET ENJEUX DE L’ANALYSE</a:t>
            </a:r>
            <a:endParaRPr lang="fr-FR" sz="36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C765AB-BD75-04BB-29CC-ED76D200D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83" y="893113"/>
            <a:ext cx="5226121" cy="5450440"/>
          </a:xfrm>
          <a:ln>
            <a:solidFill>
              <a:schemeClr val="accent2">
                <a:lumMod val="75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  </a:t>
            </a:r>
            <a:r>
              <a:rPr lang="fr-FR" b="1" dirty="0">
                <a:solidFill>
                  <a:schemeClr val="accent2"/>
                </a:solidFill>
              </a:rPr>
              <a:t>Objectif de l’étude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Évaluer la capacité des services publics administratifs à répondre à la demande des usagers, en tenant compte de leur performance opérationnelle et de leur accessibilité territoriale.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chemeClr val="accent2"/>
                </a:solidFill>
              </a:rPr>
              <a:t>  Enjeux clés</a:t>
            </a:r>
            <a:endParaRPr lang="fr-FR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Forte demande de documents administratifs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Pression inégale sur les centres selon les territoires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Nécessité d’un pilotage basé sur les données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503D29-7682-C17D-9FBF-3EA993D05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29" y="899728"/>
            <a:ext cx="5226121" cy="524421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335B4F9-950C-8B82-AC01-66072D645D51}"/>
              </a:ext>
            </a:extLst>
          </p:cNvPr>
          <p:cNvSpPr txBox="1"/>
          <p:nvPr/>
        </p:nvSpPr>
        <p:spPr>
          <a:xfrm>
            <a:off x="6000108" y="6143946"/>
            <a:ext cx="5986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1" dirty="0"/>
              <a:t>Image 1: Carte du Togo avec les centres ; Source : Dashboard power BI des données</a:t>
            </a:r>
          </a:p>
        </p:txBody>
      </p:sp>
    </p:spTree>
    <p:extLst>
      <p:ext uri="{BB962C8B-B14F-4D97-AF65-F5344CB8AC3E}">
        <p14:creationId xmlns:p14="http://schemas.microsoft.com/office/powerpoint/2010/main" val="354308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8DDEAC-3AD0-0F8A-8B59-FD670359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747" y="77448"/>
            <a:ext cx="9456506" cy="97051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DÉMARCHE ANALYTIQUE ET PRÉPARATION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FE9B2A-50B2-BB0D-34A9-2DB3C0FC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87" y="1315091"/>
            <a:ext cx="4613096" cy="51290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chemeClr val="accent2"/>
                </a:solidFill>
              </a:rPr>
              <a:t>Approche adoptée</a:t>
            </a:r>
            <a:endParaRPr lang="fr-FR" sz="3600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>
                <a:latin typeface="Arial Narrow" panose="020B0606020202030204" pitchFamily="34" charset="0"/>
              </a:rPr>
              <a:t>Analyse exploratoire des données (EDA)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>
                <a:latin typeface="Arial Narrow" panose="020B0606020202030204" pitchFamily="34" charset="0"/>
              </a:rPr>
              <a:t>Nettoyage et harmonisation des jeux de données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>
                <a:latin typeface="Arial Narrow" panose="020B0606020202030204" pitchFamily="34" charset="0"/>
              </a:rPr>
              <a:t>Traitement des incohérences et des valeurs manquantes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>
                <a:latin typeface="Arial Narrow" panose="020B0606020202030204" pitchFamily="34" charset="0"/>
              </a:rPr>
              <a:t>Construction d’indicateurs de performance (KPI)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EC5676-1971-AC34-2265-5A79B0E92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529" y="1315091"/>
            <a:ext cx="6911084" cy="463364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106AC3A-3913-3B73-3B95-CA3FF47DB3B6}"/>
              </a:ext>
            </a:extLst>
          </p:cNvPr>
          <p:cNvSpPr txBox="1"/>
          <p:nvPr/>
        </p:nvSpPr>
        <p:spPr>
          <a:xfrm>
            <a:off x="5198724" y="6133672"/>
            <a:ext cx="6719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1" dirty="0"/>
              <a:t>Image 2: Schéma simplifié du modèle de données; Source: Power BI(Power </a:t>
            </a:r>
            <a:r>
              <a:rPr lang="fr-FR" b="1" i="1" dirty="0" err="1"/>
              <a:t>Query</a:t>
            </a:r>
            <a:r>
              <a:rPr lang="fr-FR" b="1" i="1" dirty="0"/>
              <a:t> &amp; Dax) </a:t>
            </a:r>
          </a:p>
        </p:txBody>
      </p:sp>
    </p:spTree>
    <p:extLst>
      <p:ext uri="{BB962C8B-B14F-4D97-AF65-F5344CB8AC3E}">
        <p14:creationId xmlns:p14="http://schemas.microsoft.com/office/powerpoint/2010/main" val="375141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892515-8250-3812-04FF-6CE9158D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504" y="0"/>
            <a:ext cx="9024991" cy="898596"/>
          </a:xfrm>
        </p:spPr>
        <p:txBody>
          <a:bodyPr/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PRINCIPAUX CONSTATS ET ENSEIGNEMENTS CLÉS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329A0D-E503-A4C0-E6EE-1CDC01F8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395" y="1075612"/>
            <a:ext cx="4031751" cy="5304640"/>
          </a:xfrm>
          <a:ln>
            <a:solidFill>
              <a:srgbClr val="C00000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accent2"/>
                </a:solidFill>
              </a:rPr>
              <a:t>Principaux constats issus de l’analyse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 Narrow" panose="020B0606020202030204" pitchFamily="34" charset="0"/>
              </a:rPr>
              <a:t>Une demande globalement homogène entre les régions, mais une pression opérationnelle variable selon les capacités locales des centres.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 Narrow" panose="020B0606020202030204" pitchFamily="34" charset="0"/>
              </a:rPr>
              <a:t>Déséquilibre entre capacité des centres et volumes de demandes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 Narrow" panose="020B0606020202030204" pitchFamily="34" charset="0"/>
              </a:rPr>
              <a:t>Délais de traitement variables selon les territoires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 Narrow" panose="020B0606020202030204" pitchFamily="34" charset="0"/>
              </a:rPr>
              <a:t>Concentration de la charge sur certains centres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 Narrow" panose="020B0606020202030204" pitchFamily="34" charset="0"/>
              </a:rPr>
              <a:t>Taux de traitement en cours et non traité important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9989E9-9972-0903-B878-909125080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38" y="1075612"/>
            <a:ext cx="3474379" cy="166487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10B6A8C-BA0C-5A4B-62A3-3FD8A1770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561" y="4749128"/>
            <a:ext cx="3591637" cy="166487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56F22DB-B8CB-002B-169C-4D282A52E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556" y="2873086"/>
            <a:ext cx="3746824" cy="170969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8E9108F-6E1C-8D74-1729-B6F8AA316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480" y="4749128"/>
            <a:ext cx="3591637" cy="163112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E51EF79-9657-9AFE-5749-B6E6A62D86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154" y="1075612"/>
            <a:ext cx="3239263" cy="1664872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0842DB7-00B9-DFD1-360F-EF0A3744612E}"/>
              </a:ext>
            </a:extLst>
          </p:cNvPr>
          <p:cNvSpPr txBox="1"/>
          <p:nvPr/>
        </p:nvSpPr>
        <p:spPr>
          <a:xfrm>
            <a:off x="4695290" y="2873086"/>
            <a:ext cx="10531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Image 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755E11B-BDA0-BA1A-7FD1-9305A79A794A}"/>
              </a:ext>
            </a:extLst>
          </p:cNvPr>
          <p:cNvSpPr txBox="1"/>
          <p:nvPr/>
        </p:nvSpPr>
        <p:spPr>
          <a:xfrm>
            <a:off x="10659417" y="2667562"/>
            <a:ext cx="10531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Image 4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097923B-1F20-06E7-A81C-745204AA91E2}"/>
              </a:ext>
            </a:extLst>
          </p:cNvPr>
          <p:cNvSpPr txBox="1"/>
          <p:nvPr/>
        </p:nvSpPr>
        <p:spPr>
          <a:xfrm>
            <a:off x="7867983" y="4107702"/>
            <a:ext cx="10531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Image 5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5A7FCBD-FF75-DE7A-4C05-C35ADEF3D452}"/>
              </a:ext>
            </a:extLst>
          </p:cNvPr>
          <p:cNvSpPr txBox="1"/>
          <p:nvPr/>
        </p:nvSpPr>
        <p:spPr>
          <a:xfrm>
            <a:off x="5301698" y="6229334"/>
            <a:ext cx="10531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Image 6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0826AFD-DBB9-057F-4312-923374050B9A}"/>
              </a:ext>
            </a:extLst>
          </p:cNvPr>
          <p:cNvSpPr txBox="1"/>
          <p:nvPr/>
        </p:nvSpPr>
        <p:spPr>
          <a:xfrm>
            <a:off x="10112785" y="6195586"/>
            <a:ext cx="10531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Image 7</a:t>
            </a:r>
          </a:p>
        </p:txBody>
      </p:sp>
    </p:spTree>
    <p:extLst>
      <p:ext uri="{BB962C8B-B14F-4D97-AF65-F5344CB8AC3E}">
        <p14:creationId xmlns:p14="http://schemas.microsoft.com/office/powerpoint/2010/main" val="212365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2D0BB6-ACBD-5496-0BD8-DB341978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507" y="0"/>
            <a:ext cx="10026293" cy="980789"/>
          </a:xfrm>
        </p:spPr>
        <p:txBody>
          <a:bodyPr/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INDICATEURS CLÉS ET VISUALISATIONS DÉCISIONNELLES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D4DE290-7205-4240-9840-FFA4F5737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982" y="1137656"/>
            <a:ext cx="5788631" cy="54168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KPI Clés suivie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Nombre de demandes par région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mesure la pression de la demande sur les services publics selon les territoires.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Délai moyen de traitement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évalue la rapidité de traitement des demandes administratives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Taux d’utilisation de la capacité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indique le niveau de sollicitation des centres par rapport à leur capacité opérationnelle.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Taux de rejet des demandes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reflète la qualité du service et la conformité des dossiers déposés.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Charge moyenne par agent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mesure l’intensité du travail supportée par les agents des centres.</a:t>
            </a:r>
            <a:endParaRPr kumimoji="0" lang="fr-FR" altLang="fr-FR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367542E8-7CFC-F8FD-6FF8-76143B726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37656"/>
            <a:ext cx="5788631" cy="43181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 majeure 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Cartographie des centres de services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000" i="1" dirty="0">
                <a:latin typeface="Arial" panose="020B0604020202020204" pitchFamily="34" charset="0"/>
                <a:cs typeface="Arial" panose="020B0604020202020204" pitchFamily="34" charset="0"/>
              </a:rPr>
              <a:t>permet de visualiser la répartition territoriale des centres et leur niveau d’activité.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Taille des bulles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400" i="1" dirty="0">
                <a:latin typeface="Arial" panose="020B0604020202020204" pitchFamily="34" charset="0"/>
                <a:cs typeface="Arial" panose="020B0604020202020204" pitchFamily="34" charset="0"/>
              </a:rPr>
              <a:t>proportionnelle au volume de demandes traitées.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Filtres interactifs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000" i="1" dirty="0">
                <a:latin typeface="Arial" panose="020B0604020202020204" pitchFamily="34" charset="0"/>
                <a:cs typeface="Arial" panose="020B0604020202020204" pitchFamily="34" charset="0"/>
              </a:rPr>
              <a:t>année et région pour une analyse dynamique et ciblée.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fr-FR" altLang="fr-FR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6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A9367-A16B-C1D5-183A-DF14A13A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RECOMMANDATIONS OPÉRATIONNELLES, LIMITES ET 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2C47AC-9285-338C-99C4-52ABF42B4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09" y="1517399"/>
            <a:ext cx="4381071" cy="5088884"/>
          </a:xfrm>
          <a:ln>
            <a:solidFill>
              <a:srgbClr val="C00000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Recommandations opérationnelles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Renforcer les centres à forte pression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Rééquilibrer les ressources humaines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Accélérer la digitalisation des services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Réduire les rejets par une meilleure information des usagers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Données sur une plus longue durées 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A108814-B326-DE22-F538-D8CB3C271B39}"/>
              </a:ext>
            </a:extLst>
          </p:cNvPr>
          <p:cNvSpPr txBox="1">
            <a:spLocks/>
          </p:cNvSpPr>
          <p:nvPr/>
        </p:nvSpPr>
        <p:spPr>
          <a:xfrm>
            <a:off x="4709846" y="1517399"/>
            <a:ext cx="3591674" cy="508888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Qualité hétérogène de certaines données territoriales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Facteurs d’accessibilité non intégrés (réseau routier)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Données quartiers mal renseignés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1DA8FD0-3BDD-5B6F-C2BF-480937AA35E2}"/>
              </a:ext>
            </a:extLst>
          </p:cNvPr>
          <p:cNvSpPr txBox="1">
            <a:spLocks/>
          </p:cNvSpPr>
          <p:nvPr/>
        </p:nvSpPr>
        <p:spPr>
          <a:xfrm>
            <a:off x="8629008" y="1517399"/>
            <a:ext cx="3299289" cy="508888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Perspectives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Intégration de données de mobilité pour avoir l’impacte de la distance en fonction des populations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Suivi temporel avancé de la performance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77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95A40B9-A127-B2AD-6E07-82C36AFE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12" y="0"/>
            <a:ext cx="12214412" cy="63597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4E3A657-AACE-164C-54A6-E0D8E1A54EA0}"/>
              </a:ext>
            </a:extLst>
          </p:cNvPr>
          <p:cNvSpPr txBox="1"/>
          <p:nvPr/>
        </p:nvSpPr>
        <p:spPr>
          <a:xfrm>
            <a:off x="2373332" y="6359703"/>
            <a:ext cx="693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/>
              <a:t>Image 8: Capture du Dashboard interactif et dynamique de Power BI  </a:t>
            </a:r>
          </a:p>
        </p:txBody>
      </p:sp>
    </p:spTree>
    <p:extLst>
      <p:ext uri="{BB962C8B-B14F-4D97-AF65-F5344CB8AC3E}">
        <p14:creationId xmlns:p14="http://schemas.microsoft.com/office/powerpoint/2010/main" val="26078970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539</Words>
  <Application>Microsoft Office PowerPoint</Application>
  <PresentationFormat>Grand écran</PresentationFormat>
  <Paragraphs>68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Arial Narrow</vt:lpstr>
      <vt:lpstr>Calibri</vt:lpstr>
      <vt:lpstr>Calibri Light</vt:lpstr>
      <vt:lpstr>Wingdings</vt:lpstr>
      <vt:lpstr>Thème Office</vt:lpstr>
      <vt:lpstr>Rapport d’analyse de la performance et de l’accessibilité des services publics administratifs</vt:lpstr>
      <vt:lpstr>PLAN DE PRESENTATION </vt:lpstr>
      <vt:lpstr>CONTEXTE ET ENJEUX DE L’ANALYSE</vt:lpstr>
      <vt:lpstr>DÉMARCHE ANALYTIQUE ET PRÉPARATION DES DONNÉES</vt:lpstr>
      <vt:lpstr>PRINCIPAUX CONSTATS ET ENSEIGNEMENTS CLÉS</vt:lpstr>
      <vt:lpstr>INDICATEURS CLÉS ET VISUALISATIONS DÉCISIONNELLES</vt:lpstr>
      <vt:lpstr>RECOMMANDATIONS OPÉRATIONNELLES, LIMITES ET PERSPECTIVES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BLUE</dc:creator>
  <cp:lastModifiedBy>BLUE</cp:lastModifiedBy>
  <cp:revision>16</cp:revision>
  <dcterms:created xsi:type="dcterms:W3CDTF">2026-01-19T23:28:36Z</dcterms:created>
  <dcterms:modified xsi:type="dcterms:W3CDTF">2026-01-20T00:48:30Z</dcterms:modified>
</cp:coreProperties>
</file>